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media/image3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6" r:id="rId11"/>
    <p:sldId id="267" r:id="rId12"/>
  </p:sldIdLst>
  <p:sldSz cx="18288000" cy="10287000"/>
  <p:notesSz cx="6858000" cy="9144000"/>
  <p:embeddedFontLst>
    <p:embeddedFont>
      <p:font typeface="Space Mono Bold" panose="02000809030000020004"/>
      <p:bold r:id="rId16"/>
    </p:embeddedFont>
    <p:embeddedFont>
      <p:font typeface="DM Sans"/>
      <p:regular r:id="rId17"/>
      <p:bold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  <p:embeddedFont>
      <p:font typeface="Space Mono Bold" panose="02000809030000020004" charset="0"/>
      <p:bold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8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4" d="100"/>
          <a:sy n="54" d="100"/>
        </p:scale>
        <p:origin x="754" y="67"/>
      </p:cViewPr>
      <p:guideLst>
        <p:guide orient="horz" pos="228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25DFE4-1901-42C4-8ECB-41C7793EA7A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88E19-D433-435E-B3FE-EB59557381F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88E19-D433-435E-B3FE-EB59557381F0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76200" y="-38100"/>
            <a:ext cx="18280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5"/>
          <p:cNvSpPr/>
          <p:nvPr/>
        </p:nvSpPr>
        <p:spPr>
          <a:xfrm>
            <a:off x="7227090" y="900992"/>
            <a:ext cx="3833820" cy="1275616"/>
          </a:xfrm>
          <a:custGeom>
            <a:avLst/>
            <a:gdLst/>
            <a:ahLst/>
            <a:cxnLst/>
            <a:rect l="l" t="t" r="r" b="b"/>
            <a:pathLst>
              <a:path w="3833820" h="1275616">
                <a:moveTo>
                  <a:pt x="0" y="0"/>
                </a:moveTo>
                <a:lnTo>
                  <a:pt x="3833820" y="0"/>
                </a:lnTo>
                <a:lnTo>
                  <a:pt x="3833820" y="1275616"/>
                </a:lnTo>
                <a:lnTo>
                  <a:pt x="0" y="1275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62000" y="1486064"/>
            <a:ext cx="16230600" cy="899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20"/>
              </a:lnSpc>
            </a:pPr>
            <a:r>
              <a:rPr lang="en-US" altLang="en-US" sz="50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B</a:t>
            </a:r>
            <a:r>
              <a:rPr lang="" altLang="en-US" sz="50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Á</a:t>
            </a:r>
            <a:r>
              <a:rPr lang="en-US" altLang="en-US" sz="50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O C</a:t>
            </a:r>
            <a:r>
              <a:rPr lang="" altLang="en-US" sz="50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Á</a:t>
            </a:r>
            <a:r>
              <a:rPr lang="en-US" altLang="en-US" sz="50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O MÔN HỌC LẬP TR</a:t>
            </a:r>
            <a:r>
              <a:rPr lang="" altLang="en-US" sz="50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Ì</a:t>
            </a:r>
            <a:r>
              <a:rPr lang="en-US" altLang="en-US" sz="50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NH MẠNG</a:t>
            </a:r>
            <a:endParaRPr lang="en-US" altLang="en-US" sz="501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90600" y="2552907"/>
            <a:ext cx="16230600" cy="3601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20"/>
              </a:lnSpc>
            </a:pPr>
            <a:r>
              <a:rPr lang="" altLang="en-US" sz="501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Đ</a:t>
            </a:r>
            <a:r>
              <a:rPr lang="en-US" altLang="en-US" sz="501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ề tài: CỜ CARO ONLINE</a:t>
            </a:r>
            <a:endParaRPr lang="en-US" altLang="en-US" sz="5015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  <a:p>
            <a:pPr marL="0" lvl="0" indent="0" algn="ctr">
              <a:lnSpc>
                <a:spcPts val="7020"/>
              </a:lnSpc>
            </a:pPr>
            <a:r>
              <a:rPr lang="en-US" altLang="en-US" sz="501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Giảng viên h</a:t>
            </a:r>
            <a:r>
              <a:rPr lang="" altLang="en-US" sz="501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ư</a:t>
            </a:r>
            <a:r>
              <a:rPr lang="en-US" altLang="en-US" sz="501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ớng dẫn: Mai Ngọc Châu</a:t>
            </a:r>
            <a:endParaRPr lang="en-US" altLang="en-US" sz="5015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  <a:p>
            <a:pPr marL="0" lvl="0" indent="0" algn="ctr">
              <a:lnSpc>
                <a:spcPts val="7020"/>
              </a:lnSpc>
            </a:pPr>
            <a:r>
              <a:rPr lang="en-US" altLang="en-US" sz="501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Lớp học phần: 012012301309</a:t>
            </a:r>
            <a:endParaRPr lang="en-US" altLang="en-US" sz="5015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  <a:p>
            <a:pPr marL="0" lvl="0" indent="0" algn="ctr">
              <a:lnSpc>
                <a:spcPts val="7020"/>
              </a:lnSpc>
            </a:pPr>
            <a:r>
              <a:rPr lang="en-US" altLang="en-US" sz="501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Nhóm thực hiện: Nhóm 4</a:t>
            </a:r>
            <a:endParaRPr lang="en-US" altLang="en-US" sz="5015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85800" y="6134166"/>
            <a:ext cx="16230600" cy="3733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35"/>
              </a:lnSpc>
            </a:pP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Thành viên nhóm</a:t>
            </a: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1.Cao Lê Huy Hoàng  MSSV: 077206010722</a:t>
            </a: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2.Hồ Lê V</a:t>
            </a:r>
            <a:r>
              <a:rPr lang="" altLang="en-US" sz="2400" dirty="0">
                <a:latin typeface="DM Sans"/>
                <a:ea typeface="DM Sans"/>
                <a:cs typeface="DM Sans"/>
                <a:sym typeface="DM Sans"/>
              </a:rPr>
              <a:t>ũ    </a:t>
            </a: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MSSV: 077206000168</a:t>
            </a: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3.Nguyễn Trung Huy Hoàng MSSV: 080206008898</a:t>
            </a: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4.Chu Thanh Tùng    MSSV: 0919950598</a:t>
            </a: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r>
              <a:rPr lang="" altLang="en-US" sz="2400" dirty="0">
                <a:latin typeface="DM Sans"/>
                <a:ea typeface="DM Sans"/>
                <a:cs typeface="DM Sans"/>
                <a:sym typeface="DM Sans"/>
              </a:rPr>
              <a:t>5.Đ</a:t>
            </a: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ặng Thành Khang  MSSV: 052206015658</a:t>
            </a: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6. Nguyễn Phúc H</a:t>
            </a:r>
            <a:r>
              <a:rPr lang="" altLang="en-US" sz="24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400" dirty="0">
                <a:latin typeface="DM Sans"/>
                <a:ea typeface="DM Sans"/>
                <a:cs typeface="DM Sans"/>
                <a:sym typeface="DM Sans"/>
              </a:rPr>
              <a:t>ng  MSSV: 066206017157</a:t>
            </a: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235"/>
              </a:lnSpc>
            </a:pPr>
            <a:endParaRPr lang="en-US" altLang="en-US" sz="2400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74" y="28575"/>
            <a:ext cx="18280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9"/>
          <p:cNvSpPr txBox="1"/>
          <p:nvPr/>
        </p:nvSpPr>
        <p:spPr>
          <a:xfrm>
            <a:off x="990600" y="1562268"/>
            <a:ext cx="16230600" cy="133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75"/>
              </a:lnSpc>
            </a:pPr>
            <a:r>
              <a:rPr lang="en-US" sz="7410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Lý Do </a:t>
            </a:r>
            <a:r>
              <a:rPr lang="en-US" sz="7410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Chọn</a:t>
            </a:r>
            <a:r>
              <a:rPr lang="en-US" sz="7410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7410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Đề</a:t>
            </a:r>
            <a:r>
              <a:rPr lang="en-US" sz="7410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Tài</a:t>
            </a:r>
            <a:endParaRPr lang="en-US" sz="7410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3455035"/>
            <a:ext cx="8938260" cy="542988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l">
              <a:lnSpc>
                <a:spcPts val="3535"/>
              </a:lnSpc>
            </a:pPr>
            <a:r>
              <a:rPr lang="" altLang="en-US" sz="3200" dirty="0">
                <a:latin typeface="DM Sans"/>
                <a:ea typeface="DM Sans"/>
                <a:cs typeface="DM Sans"/>
                <a:sym typeface="DM Sans"/>
              </a:rPr>
              <a:t>Á</a:t>
            </a: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p dụng kiến thức lập trình mạng thực tiễn với Socket TCP/IP.</a:t>
            </a:r>
            <a:endParaRPr lang="en-US" altLang="en-US" sz="32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535"/>
              </a:lnSpc>
            </a:pP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Trò chơi có luật </a:t>
            </a:r>
            <a:r>
              <a:rPr lang="" altLang="en-US" sz="32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ơn giản, dễ triển khai và kiểm thử.</a:t>
            </a:r>
            <a:endParaRPr lang="en-US" altLang="en-US" sz="32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535"/>
              </a:lnSpc>
            </a:pP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Tập trung xử l</a:t>
            </a:r>
            <a:r>
              <a:rPr lang="" altLang="en-US" sz="3200" dirty="0">
                <a:latin typeface="DM Sans"/>
                <a:ea typeface="DM Sans"/>
                <a:cs typeface="DM Sans"/>
                <a:sym typeface="DM Sans"/>
              </a:rPr>
              <a:t>ý </a:t>
            </a: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mô hình Client – Server và giao tiếp thời gian thực.</a:t>
            </a:r>
            <a:endParaRPr lang="en-US" altLang="en-US" sz="32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535"/>
              </a:lnSpc>
            </a:pP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Có khả n</a:t>
            </a:r>
            <a:r>
              <a:rPr lang="" altLang="en-US" sz="32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ng mở rộng và triển khai trên môi tr</a:t>
            </a:r>
            <a:r>
              <a:rPr lang="" altLang="en-US" sz="32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ờng Internet.</a:t>
            </a:r>
            <a:endParaRPr lang="en-US" altLang="en-US" sz="32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ts val="3535"/>
              </a:lnSpc>
            </a:pP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Cơ hội học tập toàn diện: lập trình </a:t>
            </a:r>
            <a:r>
              <a:rPr lang="" altLang="en-US" sz="32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200" dirty="0">
                <a:latin typeface="DM Sans"/>
                <a:ea typeface="DM Sans"/>
                <a:cs typeface="DM Sans"/>
                <a:sym typeface="DM Sans"/>
              </a:rPr>
              <a:t>a luồng, giao thức, giao diện.</a:t>
            </a:r>
            <a:endParaRPr lang="en-US" altLang="en-US" sz="3200" dirty="0"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5" name="Group 5"/>
          <p:cNvGrpSpPr/>
          <p:nvPr/>
        </p:nvGrpSpPr>
        <p:grpSpPr>
          <a:xfrm rot="0">
            <a:off x="11658865" y="1028470"/>
            <a:ext cx="5946446" cy="8636230"/>
            <a:chOff x="0" y="0"/>
            <a:chExt cx="654419" cy="9504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4419" cy="950435"/>
            </a:xfrm>
            <a:custGeom>
              <a:avLst/>
              <a:gdLst/>
              <a:ahLst/>
              <a:cxnLst/>
              <a:rect l="l" t="t" r="r" b="b"/>
              <a:pathLst>
                <a:path w="654419" h="950435">
                  <a:moveTo>
                    <a:pt x="0" y="0"/>
                  </a:moveTo>
                  <a:lnTo>
                    <a:pt x="654419" y="0"/>
                  </a:lnTo>
                  <a:lnTo>
                    <a:pt x="654419" y="950435"/>
                  </a:lnTo>
                  <a:lnTo>
                    <a:pt x="0" y="950435"/>
                  </a:lnTo>
                  <a:close/>
                </a:path>
              </a:pathLst>
            </a:custGeom>
            <a:blipFill>
              <a:blip r:embed="rId2"/>
              <a:stretch>
                <a:fillRect l="-196" r="-196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228354" y="-495300"/>
            <a:ext cx="18280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9"/>
          <p:cNvSpPr txBox="1"/>
          <p:nvPr/>
        </p:nvSpPr>
        <p:spPr>
          <a:xfrm>
            <a:off x="837999" y="1104809"/>
            <a:ext cx="8115300" cy="936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05"/>
              </a:lnSpc>
            </a:pPr>
            <a:r>
              <a:rPr lang="en-US" altLang="en-US" sz="52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Kiến trú</a:t>
            </a:r>
            <a:r>
              <a:rPr lang="vi-VN" altLang="en-US" sz="52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c </a:t>
            </a:r>
            <a:r>
              <a:rPr lang="en-US" altLang="en-US" sz="521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Tổng quan</a:t>
            </a:r>
            <a:endParaRPr lang="en-US" altLang="en-US" sz="521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62141" y="2095500"/>
            <a:ext cx="8115300" cy="210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en-US" sz="2400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Hệ thống sử dụng mô hình Client–Server với giao tiếp qua Socket TCP/IP. Nhiều Client kết nối </a:t>
            </a:r>
            <a:r>
              <a:rPr lang="" altLang="en-US" sz="2400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đ</a:t>
            </a:r>
            <a:r>
              <a:rPr lang="en-US" altLang="en-US" sz="2400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ồng thời tới Server thông qua TcpListener. Shared Library cung cấp các lớp dùng chung cho cả hai phía.</a:t>
            </a:r>
            <a:endParaRPr lang="en-US" altLang="en-US" sz="2400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  <a:p>
            <a:pPr marL="0" lvl="0" indent="0" algn="l">
              <a:lnSpc>
                <a:spcPts val="2040"/>
              </a:lnSpc>
            </a:pPr>
            <a:r>
              <a:rPr lang="en-US" sz="2400" dirty="0">
                <a:latin typeface="DM Sans"/>
                <a:ea typeface="DM Sans"/>
                <a:cs typeface="DM Sans"/>
                <a:sym typeface="DM Sans"/>
              </a:rPr>
              <a:t> </a:t>
            </a:r>
            <a:endParaRPr lang="en-US" sz="24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914400" y="3985260"/>
            <a:ext cx="5080000" cy="953770"/>
          </a:xfrm>
          <a:prstGeom prst="rect">
            <a:avLst/>
          </a:prstGeom>
        </p:spPr>
        <p:txBody>
          <a:bodyPr>
            <a:noAutofit/>
          </a:bodyPr>
          <a:p>
            <a:pPr algn="l"/>
            <a:r>
              <a:rPr sz="3000" b="1" i="0" cap="all">
                <a:solidFill>
                  <a:srgbClr val="003060"/>
                </a:solidFill>
              </a:rPr>
              <a:t>CLIENT</a:t>
            </a:r>
            <a:endParaRPr sz="3000" b="1" i="0" cap="all">
              <a:solidFill>
                <a:srgbClr val="003060"/>
              </a:solidFill>
            </a:endParaRPr>
          </a:p>
          <a:p>
            <a:pPr algn="l"/>
            <a:r>
              <a:rPr sz="1600" b="0" i="0">
                <a:solidFill>
                  <a:srgbClr val="003060"/>
                </a:solidFill>
              </a:rPr>
              <a:t>Giao diện WinForms, gửi yêu cầu và nhận dữ liệu từ Server qua TCP/IP.</a:t>
            </a:r>
            <a:endParaRPr sz="1600" b="0" i="0">
              <a:solidFill>
                <a:srgbClr val="00306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57580" y="5067300"/>
            <a:ext cx="5080000" cy="1045210"/>
          </a:xfrm>
          <a:prstGeom prst="rect">
            <a:avLst/>
          </a:prstGeom>
        </p:spPr>
        <p:txBody>
          <a:bodyPr>
            <a:spAutoFit/>
          </a:bodyPr>
          <a:p>
            <a:pPr algn="l"/>
            <a:r>
              <a:rPr sz="3000" b="1" i="0" cap="all">
                <a:solidFill>
                  <a:srgbClr val="003060"/>
                </a:solidFill>
              </a:rPr>
              <a:t>SERVER</a:t>
            </a:r>
            <a:endParaRPr sz="3000" b="1" i="0" cap="all">
              <a:solidFill>
                <a:srgbClr val="003060"/>
              </a:solidFill>
            </a:endParaRPr>
          </a:p>
          <a:p>
            <a:pPr algn="l"/>
            <a:r>
              <a:rPr sz="1600" b="0" i="0">
                <a:solidFill>
                  <a:srgbClr val="003060"/>
                </a:solidFill>
              </a:rPr>
              <a:t>Quản lý người chơi, phòng chơi và điều khiển toàn bộ trận đấu.</a:t>
            </a:r>
            <a:endParaRPr sz="1600" b="0" i="0">
              <a:solidFill>
                <a:srgbClr val="003060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962025" y="6264910"/>
            <a:ext cx="5080000" cy="1045210"/>
          </a:xfrm>
          <a:prstGeom prst="rect">
            <a:avLst/>
          </a:prstGeom>
        </p:spPr>
        <p:txBody>
          <a:bodyPr>
            <a:spAutoFit/>
          </a:bodyPr>
          <a:p>
            <a:pPr algn="l"/>
            <a:r>
              <a:rPr sz="3000" b="1" i="0" cap="all">
                <a:solidFill>
                  <a:srgbClr val="003060"/>
                </a:solidFill>
              </a:rPr>
              <a:t>SHARED</a:t>
            </a:r>
            <a:endParaRPr sz="3000" b="1" i="0" cap="all">
              <a:solidFill>
                <a:srgbClr val="003060"/>
              </a:solidFill>
            </a:endParaRPr>
          </a:p>
          <a:p>
            <a:pPr algn="l"/>
            <a:r>
              <a:rPr sz="1600" b="0" i="0">
                <a:solidFill>
                  <a:srgbClr val="003060"/>
                </a:solidFill>
              </a:rPr>
              <a:t>Protocol, MessageHelper và các lớp dùng chung giữa Client và Server.</a:t>
            </a:r>
            <a:endParaRPr sz="1600" b="0" i="0">
              <a:solidFill>
                <a:srgbClr val="003060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962025" y="7290435"/>
            <a:ext cx="5080000" cy="1045210"/>
          </a:xfrm>
          <a:prstGeom prst="rect">
            <a:avLst/>
          </a:prstGeom>
        </p:spPr>
        <p:txBody>
          <a:bodyPr>
            <a:spAutoFit/>
          </a:bodyPr>
          <a:p>
            <a:pPr algn="l"/>
            <a:r>
              <a:rPr sz="3000" b="1" i="0" cap="all">
                <a:solidFill>
                  <a:srgbClr val="003060"/>
                </a:solidFill>
              </a:rPr>
              <a:t>NETWORK</a:t>
            </a:r>
            <a:endParaRPr sz="3000" b="1" i="0" cap="all">
              <a:solidFill>
                <a:srgbClr val="003060"/>
              </a:solidFill>
            </a:endParaRPr>
          </a:p>
          <a:p>
            <a:pPr algn="l"/>
            <a:r>
              <a:rPr sz="1600" b="0" i="0">
                <a:solidFill>
                  <a:srgbClr val="003060"/>
                </a:solidFill>
              </a:rPr>
              <a:t>TcpListener lắng nghe kết nối; mỗi Client có luồng xử lý riêng biệt.</a:t>
            </a:r>
            <a:endParaRPr sz="1600" b="0" i="0">
              <a:solidFill>
                <a:srgbClr val="003060"/>
              </a:solidFill>
            </a:endParaRPr>
          </a:p>
        </p:txBody>
      </p:sp>
      <p:grpSp>
        <p:nvGrpSpPr>
          <p:cNvPr id="6" name="Group 7"/>
          <p:cNvGrpSpPr/>
          <p:nvPr/>
        </p:nvGrpSpPr>
        <p:grpSpPr>
          <a:xfrm rot="0">
            <a:off x="9296400" y="2857498"/>
            <a:ext cx="8479155" cy="6022342"/>
            <a:chOff x="204644" y="93413"/>
            <a:chExt cx="1461290" cy="673200"/>
          </a:xfrm>
        </p:grpSpPr>
        <p:sp>
          <p:nvSpPr>
            <p:cNvPr id="10" name="Freeform 8"/>
            <p:cNvSpPr/>
            <p:nvPr/>
          </p:nvSpPr>
          <p:spPr>
            <a:xfrm>
              <a:off x="204644" y="93413"/>
              <a:ext cx="1461290" cy="673200"/>
            </a:xfrm>
            <a:custGeom>
              <a:avLst/>
              <a:gdLst/>
              <a:ahLst/>
              <a:cxnLst/>
              <a:rect l="l" t="t" r="r" b="b"/>
              <a:pathLst>
                <a:path w="1665934" h="766613">
                  <a:moveTo>
                    <a:pt x="0" y="0"/>
                  </a:moveTo>
                  <a:lnTo>
                    <a:pt x="1665934" y="0"/>
                  </a:lnTo>
                  <a:lnTo>
                    <a:pt x="1665934" y="766613"/>
                  </a:lnTo>
                  <a:lnTo>
                    <a:pt x="0" y="766613"/>
                  </a:lnTo>
                  <a:close/>
                </a:path>
              </a:pathLst>
            </a:custGeom>
            <a:blipFill>
              <a:blip r:embed="rId2"/>
              <a:stretch>
                <a:fillRect l="-154" r="-154"/>
              </a:stretch>
            </a:blipFill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457200" y="-266700"/>
            <a:ext cx="18776950" cy="103593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" name="Group 4"/>
          <p:cNvGrpSpPr/>
          <p:nvPr/>
        </p:nvGrpSpPr>
        <p:grpSpPr>
          <a:xfrm rot="0">
            <a:off x="1864416" y="5358702"/>
            <a:ext cx="3537588" cy="600105"/>
            <a:chOff x="0" y="0"/>
            <a:chExt cx="931710" cy="158052"/>
          </a:xfrm>
        </p:grpSpPr>
        <p:sp>
          <p:nvSpPr>
            <p:cNvPr id="61" name="Freeform 5"/>
            <p:cNvSpPr/>
            <p:nvPr/>
          </p:nvSpPr>
          <p:spPr>
            <a:xfrm>
              <a:off x="0" y="0"/>
              <a:ext cx="931710" cy="158052"/>
            </a:xfrm>
            <a:custGeom>
              <a:avLst/>
              <a:gdLst/>
              <a:ahLst/>
              <a:cxnLst/>
              <a:rect l="l" t="t" r="r" b="b"/>
              <a:pathLst>
                <a:path w="931710" h="158052">
                  <a:moveTo>
                    <a:pt x="28450" y="0"/>
                  </a:moveTo>
                  <a:lnTo>
                    <a:pt x="903260" y="0"/>
                  </a:lnTo>
                  <a:cubicBezTo>
                    <a:pt x="918973" y="0"/>
                    <a:pt x="931710" y="12738"/>
                    <a:pt x="931710" y="28450"/>
                  </a:cubicBezTo>
                  <a:lnTo>
                    <a:pt x="931710" y="129602"/>
                  </a:lnTo>
                  <a:cubicBezTo>
                    <a:pt x="931710" y="145315"/>
                    <a:pt x="918973" y="158052"/>
                    <a:pt x="903260" y="158052"/>
                  </a:cubicBezTo>
                  <a:lnTo>
                    <a:pt x="28450" y="158052"/>
                  </a:lnTo>
                  <a:cubicBezTo>
                    <a:pt x="12738" y="158052"/>
                    <a:pt x="0" y="145315"/>
                    <a:pt x="0" y="129602"/>
                  </a:cubicBezTo>
                  <a:lnTo>
                    <a:pt x="0" y="28450"/>
                  </a:lnTo>
                  <a:cubicBezTo>
                    <a:pt x="0" y="12738"/>
                    <a:pt x="12738" y="0"/>
                    <a:pt x="284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2" name="TextBox 6"/>
            <p:cNvSpPr txBox="1"/>
            <p:nvPr/>
          </p:nvSpPr>
          <p:spPr>
            <a:xfrm>
              <a:off x="0" y="-57150"/>
              <a:ext cx="931710" cy="21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</a:pPr>
            </a:p>
          </p:txBody>
        </p:sp>
      </p:grpSp>
      <p:grpSp>
        <p:nvGrpSpPr>
          <p:cNvPr id="63" name="Group 7"/>
          <p:cNvGrpSpPr/>
          <p:nvPr/>
        </p:nvGrpSpPr>
        <p:grpSpPr>
          <a:xfrm rot="0">
            <a:off x="5732823" y="4543395"/>
            <a:ext cx="3537588" cy="600105"/>
            <a:chOff x="0" y="0"/>
            <a:chExt cx="931710" cy="158052"/>
          </a:xfrm>
        </p:grpSpPr>
        <p:sp>
          <p:nvSpPr>
            <p:cNvPr id="64" name="Freeform 8"/>
            <p:cNvSpPr/>
            <p:nvPr/>
          </p:nvSpPr>
          <p:spPr>
            <a:xfrm>
              <a:off x="0" y="0"/>
              <a:ext cx="931710" cy="158052"/>
            </a:xfrm>
            <a:custGeom>
              <a:avLst/>
              <a:gdLst/>
              <a:ahLst/>
              <a:cxnLst/>
              <a:rect l="l" t="t" r="r" b="b"/>
              <a:pathLst>
                <a:path w="931710" h="158052">
                  <a:moveTo>
                    <a:pt x="28450" y="0"/>
                  </a:moveTo>
                  <a:lnTo>
                    <a:pt x="903260" y="0"/>
                  </a:lnTo>
                  <a:cubicBezTo>
                    <a:pt x="918973" y="0"/>
                    <a:pt x="931710" y="12738"/>
                    <a:pt x="931710" y="28450"/>
                  </a:cubicBezTo>
                  <a:lnTo>
                    <a:pt x="931710" y="129602"/>
                  </a:lnTo>
                  <a:cubicBezTo>
                    <a:pt x="931710" y="145315"/>
                    <a:pt x="918973" y="158052"/>
                    <a:pt x="903260" y="158052"/>
                  </a:cubicBezTo>
                  <a:lnTo>
                    <a:pt x="28450" y="158052"/>
                  </a:lnTo>
                  <a:cubicBezTo>
                    <a:pt x="12738" y="158052"/>
                    <a:pt x="0" y="145315"/>
                    <a:pt x="0" y="129602"/>
                  </a:cubicBezTo>
                  <a:lnTo>
                    <a:pt x="0" y="28450"/>
                  </a:lnTo>
                  <a:cubicBezTo>
                    <a:pt x="0" y="12738"/>
                    <a:pt x="12738" y="0"/>
                    <a:pt x="284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5" name="TextBox 9"/>
            <p:cNvSpPr txBox="1"/>
            <p:nvPr/>
          </p:nvSpPr>
          <p:spPr>
            <a:xfrm>
              <a:off x="0" y="-57150"/>
              <a:ext cx="931710" cy="21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</a:pPr>
            </a:p>
          </p:txBody>
        </p:sp>
      </p:grpSp>
      <p:grpSp>
        <p:nvGrpSpPr>
          <p:cNvPr id="66" name="Group 10"/>
          <p:cNvGrpSpPr/>
          <p:nvPr/>
        </p:nvGrpSpPr>
        <p:grpSpPr>
          <a:xfrm rot="0">
            <a:off x="9727268" y="4543395"/>
            <a:ext cx="3537588" cy="600105"/>
            <a:chOff x="0" y="0"/>
            <a:chExt cx="931710" cy="158052"/>
          </a:xfrm>
        </p:grpSpPr>
        <p:sp>
          <p:nvSpPr>
            <p:cNvPr id="67" name="Freeform 11"/>
            <p:cNvSpPr/>
            <p:nvPr/>
          </p:nvSpPr>
          <p:spPr>
            <a:xfrm>
              <a:off x="0" y="0"/>
              <a:ext cx="931710" cy="158052"/>
            </a:xfrm>
            <a:custGeom>
              <a:avLst/>
              <a:gdLst/>
              <a:ahLst/>
              <a:cxnLst/>
              <a:rect l="l" t="t" r="r" b="b"/>
              <a:pathLst>
                <a:path w="931710" h="158052">
                  <a:moveTo>
                    <a:pt x="28450" y="0"/>
                  </a:moveTo>
                  <a:lnTo>
                    <a:pt x="903260" y="0"/>
                  </a:lnTo>
                  <a:cubicBezTo>
                    <a:pt x="918973" y="0"/>
                    <a:pt x="931710" y="12738"/>
                    <a:pt x="931710" y="28450"/>
                  </a:cubicBezTo>
                  <a:lnTo>
                    <a:pt x="931710" y="129602"/>
                  </a:lnTo>
                  <a:cubicBezTo>
                    <a:pt x="931710" y="145315"/>
                    <a:pt x="918973" y="158052"/>
                    <a:pt x="903260" y="158052"/>
                  </a:cubicBezTo>
                  <a:lnTo>
                    <a:pt x="28450" y="158052"/>
                  </a:lnTo>
                  <a:cubicBezTo>
                    <a:pt x="12738" y="158052"/>
                    <a:pt x="0" y="145315"/>
                    <a:pt x="0" y="129602"/>
                  </a:cubicBezTo>
                  <a:lnTo>
                    <a:pt x="0" y="28450"/>
                  </a:lnTo>
                  <a:cubicBezTo>
                    <a:pt x="0" y="12738"/>
                    <a:pt x="12738" y="0"/>
                    <a:pt x="284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68" name="TextBox 12"/>
            <p:cNvSpPr txBox="1"/>
            <p:nvPr/>
          </p:nvSpPr>
          <p:spPr>
            <a:xfrm>
              <a:off x="0" y="-57150"/>
              <a:ext cx="931710" cy="21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</a:pPr>
            </a:p>
          </p:txBody>
        </p:sp>
      </p:grpSp>
      <p:grpSp>
        <p:nvGrpSpPr>
          <p:cNvPr id="69" name="Group 13"/>
          <p:cNvGrpSpPr/>
          <p:nvPr/>
        </p:nvGrpSpPr>
        <p:grpSpPr>
          <a:xfrm rot="0">
            <a:off x="13721712" y="4543395"/>
            <a:ext cx="3537588" cy="600105"/>
            <a:chOff x="0" y="0"/>
            <a:chExt cx="931710" cy="158052"/>
          </a:xfrm>
        </p:grpSpPr>
        <p:sp>
          <p:nvSpPr>
            <p:cNvPr id="70" name="Freeform 14"/>
            <p:cNvSpPr/>
            <p:nvPr/>
          </p:nvSpPr>
          <p:spPr>
            <a:xfrm>
              <a:off x="0" y="0"/>
              <a:ext cx="931710" cy="158052"/>
            </a:xfrm>
            <a:custGeom>
              <a:avLst/>
              <a:gdLst/>
              <a:ahLst/>
              <a:cxnLst/>
              <a:rect l="l" t="t" r="r" b="b"/>
              <a:pathLst>
                <a:path w="931710" h="158052">
                  <a:moveTo>
                    <a:pt x="28450" y="0"/>
                  </a:moveTo>
                  <a:lnTo>
                    <a:pt x="903260" y="0"/>
                  </a:lnTo>
                  <a:cubicBezTo>
                    <a:pt x="918973" y="0"/>
                    <a:pt x="931710" y="12738"/>
                    <a:pt x="931710" y="28450"/>
                  </a:cubicBezTo>
                  <a:lnTo>
                    <a:pt x="931710" y="129602"/>
                  </a:lnTo>
                  <a:cubicBezTo>
                    <a:pt x="931710" y="145315"/>
                    <a:pt x="918973" y="158052"/>
                    <a:pt x="903260" y="158052"/>
                  </a:cubicBezTo>
                  <a:lnTo>
                    <a:pt x="28450" y="158052"/>
                  </a:lnTo>
                  <a:cubicBezTo>
                    <a:pt x="12738" y="158052"/>
                    <a:pt x="0" y="145315"/>
                    <a:pt x="0" y="129602"/>
                  </a:cubicBezTo>
                  <a:lnTo>
                    <a:pt x="0" y="28450"/>
                  </a:lnTo>
                  <a:cubicBezTo>
                    <a:pt x="0" y="12738"/>
                    <a:pt x="12738" y="0"/>
                    <a:pt x="284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71" name="TextBox 15"/>
            <p:cNvSpPr txBox="1"/>
            <p:nvPr/>
          </p:nvSpPr>
          <p:spPr>
            <a:xfrm>
              <a:off x="0" y="-57150"/>
              <a:ext cx="931710" cy="21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</a:pPr>
            </a:p>
          </p:txBody>
        </p:sp>
      </p:grpSp>
      <p:grpSp>
        <p:nvGrpSpPr>
          <p:cNvPr id="72" name="Group 16"/>
          <p:cNvGrpSpPr/>
          <p:nvPr/>
        </p:nvGrpSpPr>
        <p:grpSpPr>
          <a:xfrm rot="0">
            <a:off x="1864416" y="6625557"/>
            <a:ext cx="3537588" cy="600105"/>
            <a:chOff x="0" y="0"/>
            <a:chExt cx="931710" cy="158052"/>
          </a:xfrm>
        </p:grpSpPr>
        <p:sp>
          <p:nvSpPr>
            <p:cNvPr id="73" name="Freeform 17"/>
            <p:cNvSpPr/>
            <p:nvPr/>
          </p:nvSpPr>
          <p:spPr>
            <a:xfrm>
              <a:off x="0" y="0"/>
              <a:ext cx="931710" cy="158052"/>
            </a:xfrm>
            <a:custGeom>
              <a:avLst/>
              <a:gdLst/>
              <a:ahLst/>
              <a:cxnLst/>
              <a:rect l="l" t="t" r="r" b="b"/>
              <a:pathLst>
                <a:path w="931710" h="158052">
                  <a:moveTo>
                    <a:pt x="28450" y="0"/>
                  </a:moveTo>
                  <a:lnTo>
                    <a:pt x="903260" y="0"/>
                  </a:lnTo>
                  <a:cubicBezTo>
                    <a:pt x="918973" y="0"/>
                    <a:pt x="931710" y="12738"/>
                    <a:pt x="931710" y="28450"/>
                  </a:cubicBezTo>
                  <a:lnTo>
                    <a:pt x="931710" y="129602"/>
                  </a:lnTo>
                  <a:cubicBezTo>
                    <a:pt x="931710" y="145315"/>
                    <a:pt x="918973" y="158052"/>
                    <a:pt x="903260" y="158052"/>
                  </a:cubicBezTo>
                  <a:lnTo>
                    <a:pt x="28450" y="158052"/>
                  </a:lnTo>
                  <a:cubicBezTo>
                    <a:pt x="12738" y="158052"/>
                    <a:pt x="0" y="145315"/>
                    <a:pt x="0" y="129602"/>
                  </a:cubicBezTo>
                  <a:lnTo>
                    <a:pt x="0" y="28450"/>
                  </a:lnTo>
                  <a:cubicBezTo>
                    <a:pt x="0" y="12738"/>
                    <a:pt x="12738" y="0"/>
                    <a:pt x="284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74" name="TextBox 18"/>
            <p:cNvSpPr txBox="1"/>
            <p:nvPr/>
          </p:nvSpPr>
          <p:spPr>
            <a:xfrm>
              <a:off x="0" y="-57150"/>
              <a:ext cx="931710" cy="21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</a:pPr>
            </a:p>
          </p:txBody>
        </p:sp>
      </p:grpSp>
      <p:grpSp>
        <p:nvGrpSpPr>
          <p:cNvPr id="75" name="Group 19"/>
          <p:cNvGrpSpPr/>
          <p:nvPr/>
        </p:nvGrpSpPr>
        <p:grpSpPr>
          <a:xfrm rot="0">
            <a:off x="1864416" y="7892411"/>
            <a:ext cx="3537588" cy="600105"/>
            <a:chOff x="0" y="0"/>
            <a:chExt cx="931710" cy="158052"/>
          </a:xfrm>
        </p:grpSpPr>
        <p:sp>
          <p:nvSpPr>
            <p:cNvPr id="76" name="Freeform 20"/>
            <p:cNvSpPr/>
            <p:nvPr/>
          </p:nvSpPr>
          <p:spPr>
            <a:xfrm>
              <a:off x="0" y="0"/>
              <a:ext cx="931710" cy="158052"/>
            </a:xfrm>
            <a:custGeom>
              <a:avLst/>
              <a:gdLst/>
              <a:ahLst/>
              <a:cxnLst/>
              <a:rect l="l" t="t" r="r" b="b"/>
              <a:pathLst>
                <a:path w="931710" h="158052">
                  <a:moveTo>
                    <a:pt x="28450" y="0"/>
                  </a:moveTo>
                  <a:lnTo>
                    <a:pt x="903260" y="0"/>
                  </a:lnTo>
                  <a:cubicBezTo>
                    <a:pt x="918973" y="0"/>
                    <a:pt x="931710" y="12738"/>
                    <a:pt x="931710" y="28450"/>
                  </a:cubicBezTo>
                  <a:lnTo>
                    <a:pt x="931710" y="129602"/>
                  </a:lnTo>
                  <a:cubicBezTo>
                    <a:pt x="931710" y="145315"/>
                    <a:pt x="918973" y="158052"/>
                    <a:pt x="903260" y="158052"/>
                  </a:cubicBezTo>
                  <a:lnTo>
                    <a:pt x="28450" y="158052"/>
                  </a:lnTo>
                  <a:cubicBezTo>
                    <a:pt x="12738" y="158052"/>
                    <a:pt x="0" y="145315"/>
                    <a:pt x="0" y="129602"/>
                  </a:cubicBezTo>
                  <a:lnTo>
                    <a:pt x="0" y="28450"/>
                  </a:lnTo>
                  <a:cubicBezTo>
                    <a:pt x="0" y="12738"/>
                    <a:pt x="12738" y="0"/>
                    <a:pt x="2845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</p:spPr>
        </p:sp>
        <p:sp>
          <p:nvSpPr>
            <p:cNvPr id="77" name="TextBox 21"/>
            <p:cNvSpPr txBox="1"/>
            <p:nvPr/>
          </p:nvSpPr>
          <p:spPr>
            <a:xfrm>
              <a:off x="0" y="-57150"/>
              <a:ext cx="931710" cy="2152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00"/>
                </a:lnSpc>
              </a:pPr>
            </a:p>
          </p:txBody>
        </p:sp>
      </p:grpSp>
      <p:sp>
        <p:nvSpPr>
          <p:cNvPr id="78" name="AutoShape 22"/>
          <p:cNvSpPr/>
          <p:nvPr/>
        </p:nvSpPr>
        <p:spPr>
          <a:xfrm>
            <a:off x="1864416" y="6292182"/>
            <a:ext cx="15394884" cy="0"/>
          </a:xfrm>
          <a:prstGeom prst="line">
            <a:avLst/>
          </a:prstGeom>
          <a:ln w="38100" cap="flat">
            <a:gradFill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79" name="AutoShape 23"/>
          <p:cNvSpPr/>
          <p:nvPr/>
        </p:nvSpPr>
        <p:spPr>
          <a:xfrm>
            <a:off x="1864416" y="7559036"/>
            <a:ext cx="15394884" cy="0"/>
          </a:xfrm>
          <a:prstGeom prst="line">
            <a:avLst/>
          </a:prstGeom>
          <a:ln w="38100" cap="flat">
            <a:gradFill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80" name="AutoShape 24"/>
          <p:cNvSpPr/>
          <p:nvPr/>
        </p:nvSpPr>
        <p:spPr>
          <a:xfrm>
            <a:off x="1864416" y="8825891"/>
            <a:ext cx="15394884" cy="0"/>
          </a:xfrm>
          <a:prstGeom prst="line">
            <a:avLst/>
          </a:prstGeom>
          <a:ln w="38100" cap="flat">
            <a:gradFill>
              <a:gsLst>
                <a:gs pos="0">
                  <a:srgbClr val="003060">
                    <a:alpha val="100000"/>
                  </a:srgbClr>
                </a:gs>
                <a:gs pos="100000">
                  <a:srgbClr val="003060">
                    <a:alpha val="0"/>
                  </a:srgbClr>
                </a:gs>
              </a:gsLst>
              <a:lin ang="54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81" name="Freeform 25"/>
          <p:cNvSpPr/>
          <p:nvPr/>
        </p:nvSpPr>
        <p:spPr>
          <a:xfrm>
            <a:off x="7127301" y="5334000"/>
            <a:ext cx="748632" cy="748632"/>
          </a:xfrm>
          <a:custGeom>
            <a:avLst/>
            <a:gdLst/>
            <a:ahLst/>
            <a:cxnLst/>
            <a:rect l="l" t="t" r="r" b="b"/>
            <a:pathLst>
              <a:path w="748632" h="748632">
                <a:moveTo>
                  <a:pt x="0" y="0"/>
                </a:moveTo>
                <a:lnTo>
                  <a:pt x="748632" y="0"/>
                </a:lnTo>
                <a:lnTo>
                  <a:pt x="748632" y="748632"/>
                </a:lnTo>
                <a:lnTo>
                  <a:pt x="0" y="74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2" name="Freeform 26"/>
          <p:cNvSpPr/>
          <p:nvPr/>
        </p:nvSpPr>
        <p:spPr>
          <a:xfrm>
            <a:off x="15116190" y="5334000"/>
            <a:ext cx="748632" cy="748632"/>
          </a:xfrm>
          <a:custGeom>
            <a:avLst/>
            <a:gdLst/>
            <a:ahLst/>
            <a:cxnLst/>
            <a:rect l="l" t="t" r="r" b="b"/>
            <a:pathLst>
              <a:path w="748632" h="748632">
                <a:moveTo>
                  <a:pt x="0" y="0"/>
                </a:moveTo>
                <a:lnTo>
                  <a:pt x="748632" y="0"/>
                </a:lnTo>
                <a:lnTo>
                  <a:pt x="748632" y="748632"/>
                </a:lnTo>
                <a:lnTo>
                  <a:pt x="0" y="74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3" name="Freeform 27"/>
          <p:cNvSpPr/>
          <p:nvPr/>
        </p:nvSpPr>
        <p:spPr>
          <a:xfrm>
            <a:off x="7127301" y="6551293"/>
            <a:ext cx="748632" cy="748632"/>
          </a:xfrm>
          <a:custGeom>
            <a:avLst/>
            <a:gdLst/>
            <a:ahLst/>
            <a:cxnLst/>
            <a:rect l="l" t="t" r="r" b="b"/>
            <a:pathLst>
              <a:path w="748632" h="748632">
                <a:moveTo>
                  <a:pt x="0" y="0"/>
                </a:moveTo>
                <a:lnTo>
                  <a:pt x="748632" y="0"/>
                </a:lnTo>
                <a:lnTo>
                  <a:pt x="748632" y="748632"/>
                </a:lnTo>
                <a:lnTo>
                  <a:pt x="0" y="74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4" name="Freeform 28"/>
          <p:cNvSpPr/>
          <p:nvPr/>
        </p:nvSpPr>
        <p:spPr>
          <a:xfrm>
            <a:off x="15116190" y="6551293"/>
            <a:ext cx="748632" cy="748632"/>
          </a:xfrm>
          <a:custGeom>
            <a:avLst/>
            <a:gdLst/>
            <a:ahLst/>
            <a:cxnLst/>
            <a:rect l="l" t="t" r="r" b="b"/>
            <a:pathLst>
              <a:path w="748632" h="748632">
                <a:moveTo>
                  <a:pt x="0" y="0"/>
                </a:moveTo>
                <a:lnTo>
                  <a:pt x="748632" y="0"/>
                </a:lnTo>
                <a:lnTo>
                  <a:pt x="748632" y="748632"/>
                </a:lnTo>
                <a:lnTo>
                  <a:pt x="0" y="74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5" name="Freeform 29"/>
          <p:cNvSpPr/>
          <p:nvPr/>
        </p:nvSpPr>
        <p:spPr>
          <a:xfrm>
            <a:off x="7127301" y="7818148"/>
            <a:ext cx="748632" cy="748632"/>
          </a:xfrm>
          <a:custGeom>
            <a:avLst/>
            <a:gdLst/>
            <a:ahLst/>
            <a:cxnLst/>
            <a:rect l="l" t="t" r="r" b="b"/>
            <a:pathLst>
              <a:path w="748632" h="748632">
                <a:moveTo>
                  <a:pt x="0" y="0"/>
                </a:moveTo>
                <a:lnTo>
                  <a:pt x="748632" y="0"/>
                </a:lnTo>
                <a:lnTo>
                  <a:pt x="748632" y="748631"/>
                </a:lnTo>
                <a:lnTo>
                  <a:pt x="0" y="74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6" name="Freeform 30"/>
          <p:cNvSpPr/>
          <p:nvPr/>
        </p:nvSpPr>
        <p:spPr>
          <a:xfrm>
            <a:off x="15116190" y="7818148"/>
            <a:ext cx="748632" cy="748632"/>
          </a:xfrm>
          <a:custGeom>
            <a:avLst/>
            <a:gdLst/>
            <a:ahLst/>
            <a:cxnLst/>
            <a:rect l="l" t="t" r="r" b="b"/>
            <a:pathLst>
              <a:path w="748632" h="748632">
                <a:moveTo>
                  <a:pt x="0" y="0"/>
                </a:moveTo>
                <a:lnTo>
                  <a:pt x="748632" y="0"/>
                </a:lnTo>
                <a:lnTo>
                  <a:pt x="748632" y="748631"/>
                </a:lnTo>
                <a:lnTo>
                  <a:pt x="0" y="7486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7" name="Freeform 31"/>
          <p:cNvSpPr/>
          <p:nvPr/>
        </p:nvSpPr>
        <p:spPr>
          <a:xfrm>
            <a:off x="11003458" y="5222268"/>
            <a:ext cx="987501" cy="981675"/>
          </a:xfrm>
          <a:custGeom>
            <a:avLst/>
            <a:gdLst/>
            <a:ahLst/>
            <a:cxnLst/>
            <a:rect l="l" t="t" r="r" b="b"/>
            <a:pathLst>
              <a:path w="987501" h="981675">
                <a:moveTo>
                  <a:pt x="0" y="0"/>
                </a:moveTo>
                <a:lnTo>
                  <a:pt x="987501" y="0"/>
                </a:lnTo>
                <a:lnTo>
                  <a:pt x="987501" y="981675"/>
                </a:lnTo>
                <a:lnTo>
                  <a:pt x="0" y="9816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8" name="Freeform 32"/>
          <p:cNvSpPr/>
          <p:nvPr/>
        </p:nvSpPr>
        <p:spPr>
          <a:xfrm>
            <a:off x="10989974" y="7687228"/>
            <a:ext cx="1012670" cy="1008636"/>
          </a:xfrm>
          <a:custGeom>
            <a:avLst/>
            <a:gdLst/>
            <a:ahLst/>
            <a:cxnLst/>
            <a:rect l="l" t="t" r="r" b="b"/>
            <a:pathLst>
              <a:path w="1012670" h="1008636">
                <a:moveTo>
                  <a:pt x="0" y="0"/>
                </a:moveTo>
                <a:lnTo>
                  <a:pt x="1012670" y="0"/>
                </a:lnTo>
                <a:lnTo>
                  <a:pt x="1012670" y="1008636"/>
                </a:lnTo>
                <a:lnTo>
                  <a:pt x="0" y="10086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7" name="TextBox 41"/>
          <p:cNvSpPr txBox="1"/>
          <p:nvPr/>
        </p:nvSpPr>
        <p:spPr>
          <a:xfrm>
            <a:off x="1864360" y="1891665"/>
            <a:ext cx="11943080" cy="94107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ts val="3535"/>
              </a:lnSpc>
            </a:pPr>
            <a:r>
              <a:rPr lang="en-US" sz="6000" b="1">
                <a:solidFill>
                  <a:schemeClr val="tx1"/>
                </a:solidFill>
                <a:latin typeface="Space Mono Bold" panose="02000809030000020004" charset="0"/>
                <a:ea typeface="Garet Bold"/>
                <a:cs typeface="Space Mono Bold" panose="02000809030000020004" charset="0"/>
                <a:sym typeface="Garet Bold"/>
              </a:rPr>
              <a:t>NHỮNG GÌ NHÓM ĐÃ XÂY DỰNG</a:t>
            </a:r>
            <a:endParaRPr lang="en-US" sz="6000" b="1">
              <a:solidFill>
                <a:schemeClr val="tx1"/>
              </a:solidFill>
              <a:latin typeface="Space Mono Bold" panose="02000809030000020004" charset="0"/>
              <a:ea typeface="Garet Bold"/>
              <a:cs typeface="Space Mono Bold" panose="02000809030000020004" charset="0"/>
              <a:sym typeface="Garet Bold"/>
            </a:endParaRPr>
          </a:p>
        </p:txBody>
      </p:sp>
      <p:sp>
        <p:nvSpPr>
          <p:cNvPr id="98" name="TextBox 42"/>
          <p:cNvSpPr txBox="1"/>
          <p:nvPr/>
        </p:nvSpPr>
        <p:spPr>
          <a:xfrm>
            <a:off x="1905000" y="3009900"/>
            <a:ext cx="9830435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</a:pPr>
            <a:r>
              <a:rPr lang="en-US" sz="3200">
                <a:solidFill>
                  <a:schemeClr val="tx1"/>
                </a:solidFill>
                <a:latin typeface="Space Mono Bold" panose="02000809030000020004" charset="0"/>
                <a:ea typeface="Open Sans"/>
                <a:cs typeface="Space Mono Bold" panose="02000809030000020004" charset="0"/>
                <a:sym typeface="Open Sans"/>
              </a:rPr>
              <a:t>Các chức năng đã được triển khai trong hệ thống Cờ Caro Online.</a:t>
            </a:r>
            <a:endParaRPr lang="en-US" sz="3200">
              <a:solidFill>
                <a:schemeClr val="tx1"/>
              </a:solidFill>
              <a:latin typeface="Space Mono Bold" panose="02000809030000020004" charset="0"/>
              <a:ea typeface="Open Sans"/>
              <a:cs typeface="Space Mono Bold" panose="02000809030000020004" charset="0"/>
              <a:sym typeface="Open Sans"/>
            </a:endParaRPr>
          </a:p>
        </p:txBody>
      </p:sp>
      <p:sp>
        <p:nvSpPr>
          <p:cNvPr id="99" name="TextBox 43"/>
          <p:cNvSpPr txBox="1"/>
          <p:nvPr/>
        </p:nvSpPr>
        <p:spPr>
          <a:xfrm>
            <a:off x="2173590" y="5541978"/>
            <a:ext cx="2919239" cy="29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5"/>
              </a:lnSpc>
            </a:pPr>
            <a:r>
              <a:rPr lang="en-US" sz="1200">
                <a:solidFill>
                  <a:srgbClr val="FFFFFF"/>
                </a:solidFill>
                <a:latin typeface="Space Mono Bold" panose="02000809030000020004" charset="0"/>
                <a:ea typeface="Garet"/>
                <a:cs typeface="Space Mono Bold" panose="02000809030000020004" charset="0"/>
                <a:sym typeface="Garet"/>
              </a:rPr>
              <a:t>ĐĂNG NHẬP / TẠO &amp; THAM GIA PHÒNG</a:t>
            </a:r>
            <a:endParaRPr lang="en-US" sz="1200">
              <a:solidFill>
                <a:srgbClr val="FFFFFF"/>
              </a:solidFill>
              <a:latin typeface="Space Mono Bold" panose="02000809030000020004" charset="0"/>
              <a:ea typeface="Garet"/>
              <a:cs typeface="Space Mono Bold" panose="02000809030000020004" charset="0"/>
              <a:sym typeface="Garet"/>
            </a:endParaRPr>
          </a:p>
        </p:txBody>
      </p:sp>
      <p:sp>
        <p:nvSpPr>
          <p:cNvPr id="100" name="TextBox 44"/>
          <p:cNvSpPr txBox="1"/>
          <p:nvPr/>
        </p:nvSpPr>
        <p:spPr>
          <a:xfrm>
            <a:off x="5876041" y="4726671"/>
            <a:ext cx="3251151" cy="14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5"/>
              </a:lnSpc>
            </a:pPr>
            <a:r>
              <a:rPr lang="en-US" sz="1200">
                <a:solidFill>
                  <a:srgbClr val="FFFFFF"/>
                </a:solidFill>
                <a:latin typeface="Space Mono Bold" panose="02000809030000020004" charset="0"/>
                <a:ea typeface="Garet"/>
                <a:cs typeface="Space Mono Bold" panose="02000809030000020004" charset="0"/>
                <a:sym typeface="Garet"/>
              </a:rPr>
              <a:t>NGƯỜI CHƠI</a:t>
            </a:r>
            <a:endParaRPr lang="en-US" sz="1200">
              <a:solidFill>
                <a:srgbClr val="FFFFFF"/>
              </a:solidFill>
              <a:latin typeface="Space Mono Bold" panose="02000809030000020004" charset="0"/>
              <a:ea typeface="Garet"/>
              <a:cs typeface="Space Mono Bold" panose="02000809030000020004" charset="0"/>
              <a:sym typeface="Garet"/>
            </a:endParaRPr>
          </a:p>
        </p:txBody>
      </p:sp>
      <p:sp>
        <p:nvSpPr>
          <p:cNvPr id="101" name="TextBox 45"/>
          <p:cNvSpPr txBox="1"/>
          <p:nvPr/>
        </p:nvSpPr>
        <p:spPr>
          <a:xfrm>
            <a:off x="9896453" y="4726671"/>
            <a:ext cx="3199218" cy="14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5"/>
              </a:lnSpc>
            </a:pPr>
            <a:r>
              <a:rPr lang="en-US" sz="1200">
                <a:solidFill>
                  <a:srgbClr val="FFFFFF"/>
                </a:solidFill>
                <a:latin typeface="Space Mono Bold" panose="02000809030000020004" charset="0"/>
                <a:ea typeface="Garet"/>
                <a:cs typeface="Space Mono Bold" panose="02000809030000020004" charset="0"/>
                <a:sym typeface="Garet"/>
              </a:rPr>
              <a:t>HỆ THỐNG</a:t>
            </a:r>
            <a:endParaRPr lang="en-US" sz="1200">
              <a:solidFill>
                <a:srgbClr val="FFFFFF"/>
              </a:solidFill>
              <a:latin typeface="Space Mono Bold" panose="02000809030000020004" charset="0"/>
              <a:ea typeface="Garet"/>
              <a:cs typeface="Space Mono Bold" panose="02000809030000020004" charset="0"/>
              <a:sym typeface="Garet"/>
            </a:endParaRPr>
          </a:p>
        </p:txBody>
      </p:sp>
      <p:sp>
        <p:nvSpPr>
          <p:cNvPr id="102" name="TextBox 46"/>
          <p:cNvSpPr txBox="1"/>
          <p:nvPr/>
        </p:nvSpPr>
        <p:spPr>
          <a:xfrm>
            <a:off x="13988755" y="4726671"/>
            <a:ext cx="3003501" cy="14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5"/>
              </a:lnSpc>
            </a:pPr>
            <a:r>
              <a:rPr lang="en-US" sz="1200">
                <a:solidFill>
                  <a:srgbClr val="FFFFFF"/>
                </a:solidFill>
                <a:latin typeface="Space Mono Bold" panose="02000809030000020004" charset="0"/>
                <a:ea typeface="Garet"/>
                <a:cs typeface="Space Mono Bold" panose="02000809030000020004" charset="0"/>
                <a:sym typeface="Garet"/>
              </a:rPr>
              <a:t>HOÀN THÀNH</a:t>
            </a:r>
            <a:endParaRPr lang="en-US" sz="1200">
              <a:solidFill>
                <a:srgbClr val="FFFFFF"/>
              </a:solidFill>
              <a:latin typeface="Space Mono Bold" panose="02000809030000020004" charset="0"/>
              <a:ea typeface="Garet"/>
              <a:cs typeface="Space Mono Bold" panose="02000809030000020004" charset="0"/>
              <a:sym typeface="Garet"/>
            </a:endParaRPr>
          </a:p>
        </p:txBody>
      </p:sp>
      <p:sp>
        <p:nvSpPr>
          <p:cNvPr id="103" name="TextBox 47"/>
          <p:cNvSpPr txBox="1"/>
          <p:nvPr/>
        </p:nvSpPr>
        <p:spPr>
          <a:xfrm>
            <a:off x="2173590" y="6808832"/>
            <a:ext cx="2919239" cy="149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5"/>
              </a:lnSpc>
            </a:pPr>
            <a:r>
              <a:rPr lang="en-US" sz="1200">
                <a:solidFill>
                  <a:srgbClr val="FFFFFF"/>
                </a:solidFill>
                <a:latin typeface="Space Mono Bold" panose="02000809030000020004" charset="0"/>
                <a:ea typeface="Garet"/>
                <a:cs typeface="Space Mono Bold" panose="02000809030000020004" charset="0"/>
                <a:sym typeface="Garet"/>
              </a:rPr>
              <a:t>CHƠI CỜ CARO ONLINE</a:t>
            </a:r>
            <a:endParaRPr lang="en-US" sz="1200">
              <a:solidFill>
                <a:srgbClr val="FFFFFF"/>
              </a:solidFill>
              <a:latin typeface="Space Mono Bold" panose="02000809030000020004" charset="0"/>
              <a:ea typeface="Garet"/>
              <a:cs typeface="Space Mono Bold" panose="02000809030000020004" charset="0"/>
              <a:sym typeface="Garet"/>
            </a:endParaRPr>
          </a:p>
        </p:txBody>
      </p:sp>
      <p:sp>
        <p:nvSpPr>
          <p:cNvPr id="104" name="TextBox 48"/>
          <p:cNvSpPr txBox="1"/>
          <p:nvPr/>
        </p:nvSpPr>
        <p:spPr>
          <a:xfrm>
            <a:off x="2173590" y="8075687"/>
            <a:ext cx="2919239" cy="298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65"/>
              </a:lnSpc>
            </a:pPr>
            <a:r>
              <a:rPr lang="en-US" sz="1200">
                <a:solidFill>
                  <a:srgbClr val="FFFFFF"/>
                </a:solidFill>
                <a:latin typeface="Space Mono Bold" panose="02000809030000020004" charset="0"/>
                <a:ea typeface="Garet"/>
                <a:cs typeface="Space Mono Bold" panose="02000809030000020004" charset="0"/>
                <a:sym typeface="Garet"/>
              </a:rPr>
              <a:t>ĐỒNG BỘ NƯỚC ĐI / QUẢN LÝ LƯỢT / KIỂM TRA THẮNG</a:t>
            </a:r>
            <a:endParaRPr lang="en-US" sz="1200">
              <a:solidFill>
                <a:srgbClr val="FFFFFF"/>
              </a:solidFill>
              <a:latin typeface="Space Mono Bold" panose="02000809030000020004" charset="0"/>
              <a:ea typeface="Garet"/>
              <a:cs typeface="Space Mono Bold" panose="02000809030000020004" charset="0"/>
              <a:sym typeface="Garet"/>
            </a:endParaRPr>
          </a:p>
        </p:txBody>
      </p:sp>
      <p:sp>
        <p:nvSpPr>
          <p:cNvPr id="105" name="Freeform 49"/>
          <p:cNvSpPr/>
          <p:nvPr/>
        </p:nvSpPr>
        <p:spPr>
          <a:xfrm>
            <a:off x="11121746" y="6551293"/>
            <a:ext cx="748632" cy="748632"/>
          </a:xfrm>
          <a:custGeom>
            <a:avLst/>
            <a:gdLst/>
            <a:ahLst/>
            <a:cxnLst/>
            <a:rect l="l" t="t" r="r" b="b"/>
            <a:pathLst>
              <a:path w="748632" h="748632">
                <a:moveTo>
                  <a:pt x="0" y="0"/>
                </a:moveTo>
                <a:lnTo>
                  <a:pt x="748631" y="0"/>
                </a:lnTo>
                <a:lnTo>
                  <a:pt x="748631" y="748632"/>
                </a:lnTo>
                <a:lnTo>
                  <a:pt x="0" y="748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74" y="76200"/>
            <a:ext cx="18280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Freeform 15"/>
          <p:cNvSpPr/>
          <p:nvPr/>
        </p:nvSpPr>
        <p:spPr>
          <a:xfrm>
            <a:off x="2855919" y="4770160"/>
            <a:ext cx="1470470" cy="1598337"/>
          </a:xfrm>
          <a:custGeom>
            <a:avLst/>
            <a:gdLst/>
            <a:ahLst/>
            <a:cxnLst/>
            <a:rect l="l" t="t" r="r" b="b"/>
            <a:pathLst>
              <a:path w="1470470" h="1598337">
                <a:moveTo>
                  <a:pt x="0" y="0"/>
                </a:moveTo>
                <a:lnTo>
                  <a:pt x="1470469" y="0"/>
                </a:lnTo>
                <a:lnTo>
                  <a:pt x="1470469" y="1598337"/>
                </a:lnTo>
                <a:lnTo>
                  <a:pt x="0" y="15983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8239559" y="4708827"/>
            <a:ext cx="1904673" cy="1668696"/>
          </a:xfrm>
          <a:custGeom>
            <a:avLst/>
            <a:gdLst/>
            <a:ahLst/>
            <a:cxnLst/>
            <a:rect l="l" t="t" r="r" b="b"/>
            <a:pathLst>
              <a:path w="1904673" h="1668696">
                <a:moveTo>
                  <a:pt x="0" y="0"/>
                </a:moveTo>
                <a:lnTo>
                  <a:pt x="1904672" y="0"/>
                </a:lnTo>
                <a:lnTo>
                  <a:pt x="1904672" y="1668696"/>
                </a:lnTo>
                <a:lnTo>
                  <a:pt x="0" y="1668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3536261" y="4692995"/>
            <a:ext cx="2119425" cy="1500418"/>
          </a:xfrm>
          <a:custGeom>
            <a:avLst/>
            <a:gdLst/>
            <a:ahLst/>
            <a:cxnLst/>
            <a:rect l="l" t="t" r="r" b="b"/>
            <a:pathLst>
              <a:path w="2119425" h="1500418">
                <a:moveTo>
                  <a:pt x="0" y="0"/>
                </a:moveTo>
                <a:lnTo>
                  <a:pt x="2119425" y="0"/>
                </a:lnTo>
                <a:lnTo>
                  <a:pt x="2119425" y="1500418"/>
                </a:lnTo>
                <a:lnTo>
                  <a:pt x="0" y="15004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66800" y="1141480"/>
            <a:ext cx="16230600" cy="143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85"/>
              </a:lnSpc>
            </a:pPr>
            <a:r>
              <a:rPr lang="en-US" altLang="en-US" sz="7990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Demo Login &amp; Lobby</a:t>
            </a:r>
            <a:endParaRPr lang="en-US" altLang="en-US" sz="7990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415349" y="7000342"/>
            <a:ext cx="4370900" cy="126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</a:pPr>
            <a:r>
              <a: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XÁC THỰC </a:t>
            </a:r>
            <a:endParaRPr lang="en-US" sz="2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Đăng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ký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tài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khoản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mới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đăng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nhập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an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toàn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đổi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mật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khẩu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và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xác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thực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phiên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người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dùng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qua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kết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nối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TCP Socket.</a:t>
            </a:r>
            <a:endParaRPr lang="en-US" sz="1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958550" y="7020259"/>
            <a:ext cx="4370900" cy="1268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</a:pPr>
            <a:r>
              <a: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CHAT VÀ TRUYỀN TỆP: </a:t>
            </a:r>
            <a:endParaRPr lang="en-US" sz="2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Nhắn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tin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văn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bản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thời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gian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thực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gửi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file/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ảnh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hỗ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trợ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emoji,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thu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hồi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tin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nhắn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và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hiển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thị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trạng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thái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online/offline.</a:t>
            </a:r>
            <a:endParaRPr lang="en-US" sz="1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2410523" y="7023336"/>
            <a:ext cx="4370900" cy="1265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</a:pPr>
            <a:r>
              <a:rPr lang="en-US" sz="2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QUẢN TRỊ HỆ THỐNG:</a:t>
            </a:r>
            <a:endParaRPr lang="en-US" sz="2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Phân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quyền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Admin,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quản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lý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danh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sách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người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dùng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,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kiểm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soát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kết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nối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và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giám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sát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hoạt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động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toàn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hệ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thống</a:t>
            </a:r>
            <a:r>
              <a:rPr lang="en-US" sz="1800" dirty="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1800" dirty="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80" y="2857500"/>
            <a:ext cx="8386445" cy="49466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2792730"/>
            <a:ext cx="8761095" cy="489712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1066800" y="7886700"/>
            <a:ext cx="6771005" cy="1014730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sz="2000" b="1" i="0">
                <a:solidFill>
                  <a:schemeClr val="tx1"/>
                </a:solidFill>
              </a:rPr>
              <a:t> Người chơi đăng nhập vào hệ thống</a:t>
            </a:r>
            <a:endParaRPr sz="2000" b="1" i="0">
              <a:solidFill>
                <a:schemeClr val="tx1"/>
              </a:solidFill>
            </a:endParaRPr>
          </a:p>
          <a:p>
            <a:pPr algn="ctr"/>
            <a:r>
              <a:rPr sz="2000" b="1" i="0">
                <a:solidFill>
                  <a:schemeClr val="tx1"/>
                </a:solidFill>
              </a:rPr>
              <a:t> Server xác thực thông tin người dùng</a:t>
            </a:r>
            <a:endParaRPr sz="2000" b="1" i="0">
              <a:solidFill>
                <a:schemeClr val="tx1"/>
              </a:solidFill>
            </a:endParaRPr>
          </a:p>
          <a:p>
            <a:pPr algn="ctr"/>
            <a:endParaRPr sz="2000" b="1" i="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8991600" y="7642225"/>
            <a:ext cx="9144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sz="2000" b="1">
                <a:sym typeface="+mn-ea"/>
              </a:rPr>
              <a:t> Hiển thị danh sách phòng chơi</a:t>
            </a:r>
            <a:endParaRPr sz="2000" b="1" i="0">
              <a:solidFill>
                <a:schemeClr val="tx1"/>
              </a:solidFill>
            </a:endParaRPr>
          </a:p>
          <a:p>
            <a:pPr algn="ctr"/>
            <a:r>
              <a:rPr sz="2000" b="1">
                <a:sym typeface="+mn-ea"/>
              </a:rPr>
              <a:t> Tạo phòng mới</a:t>
            </a:r>
            <a:endParaRPr sz="2000" b="1" i="0">
              <a:solidFill>
                <a:schemeClr val="tx1"/>
              </a:solidFill>
            </a:endParaRPr>
          </a:p>
          <a:p>
            <a:pPr algn="ctr"/>
            <a:r>
              <a:rPr sz="2000" b="1">
                <a:sym typeface="+mn-ea"/>
              </a:rPr>
              <a:t>Tham gia phòng có sẵn</a:t>
            </a:r>
            <a:endParaRPr sz="2000" b="1" i="0">
              <a:solidFill>
                <a:schemeClr val="tx1"/>
              </a:solidFill>
            </a:endParaRPr>
          </a:p>
          <a:p>
            <a:pPr algn="ctr"/>
            <a:r>
              <a:rPr sz="2000" b="1">
                <a:sym typeface="+mn-ea"/>
              </a:rPr>
              <a:t> Bước chuẩn bị trước khi bắt đầu trận đấu</a:t>
            </a:r>
            <a:endParaRPr lang="en-US" sz="2000" b="1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334000" y="9029700"/>
            <a:ext cx="6531610" cy="10033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sz="2200" b="1">
                <a:sym typeface="+mn-ea"/>
              </a:rPr>
              <a:t>Giao diện LoginForm &amp; LobbyForm được xây dựng bằng WinForms, kết nối trực tiếp tới Server qua Socket TCP/IP.</a:t>
            </a:r>
            <a:endParaRPr lang="en-US" sz="22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24" grpId="0"/>
      <p:bldP spid="2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1186" y="0"/>
            <a:ext cx="18280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10"/>
          <p:cNvSpPr txBox="1"/>
          <p:nvPr/>
        </p:nvSpPr>
        <p:spPr>
          <a:xfrm>
            <a:off x="1028700" y="1366520"/>
            <a:ext cx="7652385" cy="14141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1030"/>
              </a:lnSpc>
            </a:pPr>
            <a:r>
              <a:rPr lang="en-US" alt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Demo Game</a:t>
            </a:r>
            <a:endParaRPr lang="en-US" altLang="en-US" sz="919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66800" y="3097530"/>
            <a:ext cx="6502400" cy="494728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0" lvl="0" indent="0" algn="l">
              <a:lnSpc>
                <a:spcPct val="100000"/>
              </a:lnSpc>
            </a:pP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• 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ồng bộ n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ớc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i giữa hai ng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ời chơi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• Kiểm tra thắng với 5 quân liên tiếp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• Quản l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ý 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l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ợt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ánh theo thời gian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• Hết giờ (Timeout) tự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ộng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• Xử l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ý 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mất kết nối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ột ngột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• Thông báo kết quả trận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ấu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095500"/>
            <a:ext cx="8854440" cy="65608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11559"/>
            <a:ext cx="18280626" cy="10287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oup 6"/>
          <p:cNvGrpSpPr/>
          <p:nvPr/>
        </p:nvGrpSpPr>
        <p:grpSpPr>
          <a:xfrm rot="5400000">
            <a:off x="2310211" y="5014582"/>
            <a:ext cx="1251826" cy="1095348"/>
            <a:chOff x="0" y="0"/>
            <a:chExt cx="812800" cy="711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</a:p>
          </p:txBody>
        </p:sp>
      </p:grpSp>
      <p:grpSp>
        <p:nvGrpSpPr>
          <p:cNvPr id="9" name="Group 9"/>
          <p:cNvGrpSpPr/>
          <p:nvPr/>
        </p:nvGrpSpPr>
        <p:grpSpPr>
          <a:xfrm rot="5400000">
            <a:off x="6448795" y="5482210"/>
            <a:ext cx="1251826" cy="1095348"/>
            <a:chOff x="0" y="0"/>
            <a:chExt cx="812800" cy="7112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</a:p>
          </p:txBody>
        </p:sp>
      </p:grpSp>
      <p:grpSp>
        <p:nvGrpSpPr>
          <p:cNvPr id="12" name="Group 12"/>
          <p:cNvGrpSpPr/>
          <p:nvPr/>
        </p:nvGrpSpPr>
        <p:grpSpPr>
          <a:xfrm rot="5400000">
            <a:off x="10587379" y="5014582"/>
            <a:ext cx="1251826" cy="1095348"/>
            <a:chOff x="0" y="0"/>
            <a:chExt cx="812800" cy="711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14725962" y="5482210"/>
            <a:ext cx="1251826" cy="1095348"/>
            <a:chOff x="0" y="0"/>
            <a:chExt cx="812800" cy="711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282575"/>
              <a:ext cx="558800" cy="3778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60"/>
                </a:lnSpc>
              </a:pPr>
            </a:p>
          </p:txBody>
        </p:sp>
      </p:grpSp>
      <p:sp>
        <p:nvSpPr>
          <p:cNvPr id="18" name="AutoShape 18"/>
          <p:cNvSpPr/>
          <p:nvPr/>
        </p:nvSpPr>
        <p:spPr>
          <a:xfrm>
            <a:off x="3483799" y="5562256"/>
            <a:ext cx="3043236" cy="46762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V="1">
            <a:off x="7622382" y="5562256"/>
            <a:ext cx="3043236" cy="46762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1760966" y="5562256"/>
            <a:ext cx="3043236" cy="467628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838200" y="1486173"/>
            <a:ext cx="16230600" cy="1650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70"/>
              </a:lnSpc>
            </a:pPr>
            <a:r>
              <a:rPr lang="en-US" alt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Dự án </a:t>
            </a:r>
            <a:r>
              <a:rPr lang="" alt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đ</a:t>
            </a:r>
            <a:r>
              <a:rPr lang="en-US" alt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ã hoàn thành</a:t>
            </a:r>
            <a:endParaRPr lang="en-US" altLang="en-US" sz="919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141095" y="4074160"/>
            <a:ext cx="3880485" cy="43922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ct val="100000"/>
              </a:lnSpc>
            </a:pPr>
            <a:r>
              <a:rPr lang="vi-VN" altLang="en-US" sz="3600" dirty="0">
                <a:latin typeface="DM Sans"/>
                <a:ea typeface="DM Sans"/>
                <a:cs typeface="DM Sans"/>
                <a:sym typeface="DM Sans"/>
              </a:rPr>
              <a:t>1:</a:t>
            </a:r>
            <a:r>
              <a:rPr lang="en-US" sz="3600" dirty="0">
                <a:latin typeface="DM Sans"/>
                <a:ea typeface="DM Sans"/>
                <a:cs typeface="DM Sans"/>
                <a:sym typeface="DM Sans"/>
              </a:rPr>
              <a:t> </a:t>
            </a:r>
            <a:endParaRPr 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Xây dựng thành công trò chơi Cờ Caro Online nhiều ng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ời chơi qua Internet với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ầy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ủ tính n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ng.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357495" y="4043045"/>
            <a:ext cx="4064635" cy="445770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ct val="100000"/>
              </a:lnSpc>
            </a:pPr>
            <a:r>
              <a:rPr lang="en-US" sz="3600" dirty="0">
                <a:latin typeface="DM Sans"/>
                <a:ea typeface="DM Sans"/>
                <a:cs typeface="DM Sans"/>
                <a:sym typeface="DM Sans"/>
              </a:rPr>
              <a:t> 2: </a:t>
            </a:r>
            <a:endParaRPr 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Server xử l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ý đư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ợc nhiều kết nối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ồng thời, quản l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ý đư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ợc nhiều phòng chơi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ộc lập cùng lúc.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665335" y="4074160"/>
            <a:ext cx="3689985" cy="448881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ct val="100000"/>
              </a:lnSpc>
            </a:pPr>
            <a:r>
              <a:rPr lang="en-US" sz="3600" dirty="0">
                <a:latin typeface="DM Sans"/>
                <a:ea typeface="DM Sans"/>
                <a:cs typeface="DM Sans"/>
                <a:sym typeface="DM Sans"/>
              </a:rPr>
              <a:t>3:</a:t>
            </a:r>
            <a:endParaRPr 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ct val="100000"/>
              </a:lnSpc>
            </a:pP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ầy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ủ chức n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ng: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đă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ng nhập, tạo/vào phòng, thi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ấu, kiểm tra thắng - thua, xử l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ý 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timeout và disconnect.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577570" y="4074160"/>
            <a:ext cx="3915410" cy="44602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marL="0" lvl="0" indent="0" algn="ctr">
              <a:lnSpc>
                <a:spcPct val="100000"/>
              </a:lnSpc>
            </a:pPr>
            <a:r>
              <a:rPr lang="en-US" sz="3600" dirty="0">
                <a:latin typeface="DM Sans"/>
                <a:ea typeface="DM Sans"/>
                <a:cs typeface="DM Sans"/>
                <a:sym typeface="DM Sans"/>
              </a:rPr>
              <a:t> 4</a:t>
            </a:r>
            <a:r>
              <a:rPr lang="vi-VN" altLang="en-US" sz="3600" dirty="0">
                <a:latin typeface="DM Sans"/>
                <a:ea typeface="DM Sans"/>
                <a:cs typeface="DM Sans"/>
                <a:sym typeface="DM Sans"/>
              </a:rPr>
              <a:t>:</a:t>
            </a:r>
            <a:endParaRPr lang="vi-VN" altLang="en-US" sz="36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ct val="100000"/>
              </a:lnSpc>
            </a:pP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Giao diện WinForms hoàn chỉnh với 3 màn hình chính: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đă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ng nhập, sảnh chờ, bàn cờ thi </a:t>
            </a:r>
            <a:r>
              <a:rPr lang="" altLang="en-US" sz="36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3600" dirty="0">
                <a:latin typeface="DM Sans"/>
                <a:ea typeface="DM Sans"/>
                <a:cs typeface="DM Sans"/>
                <a:sym typeface="DM Sans"/>
              </a:rPr>
              <a:t>ấu.</a:t>
            </a:r>
            <a:endParaRPr lang="en-US" altLang="en-US" sz="3600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9329" y="-27916"/>
            <a:ext cx="18280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Freeform 12"/>
          <p:cNvSpPr/>
          <p:nvPr/>
        </p:nvSpPr>
        <p:spPr>
          <a:xfrm>
            <a:off x="4328816" y="4810784"/>
            <a:ext cx="1294571" cy="1128059"/>
          </a:xfrm>
          <a:custGeom>
            <a:avLst/>
            <a:gdLst/>
            <a:ahLst/>
            <a:cxnLst/>
            <a:rect l="l" t="t" r="r" b="b"/>
            <a:pathLst>
              <a:path w="1294571" h="1128059">
                <a:moveTo>
                  <a:pt x="0" y="0"/>
                </a:moveTo>
                <a:lnTo>
                  <a:pt x="1294571" y="0"/>
                </a:lnTo>
                <a:lnTo>
                  <a:pt x="1294571" y="1128059"/>
                </a:lnTo>
                <a:lnTo>
                  <a:pt x="0" y="1128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740555" y="4901000"/>
            <a:ext cx="1130273" cy="1146949"/>
          </a:xfrm>
          <a:custGeom>
            <a:avLst/>
            <a:gdLst/>
            <a:ahLst/>
            <a:cxnLst/>
            <a:rect l="l" t="t" r="r" b="b"/>
            <a:pathLst>
              <a:path w="1130273" h="1146949">
                <a:moveTo>
                  <a:pt x="0" y="0"/>
                </a:moveTo>
                <a:lnTo>
                  <a:pt x="1130273" y="0"/>
                </a:lnTo>
                <a:lnTo>
                  <a:pt x="1130273" y="1146950"/>
                </a:lnTo>
                <a:lnTo>
                  <a:pt x="0" y="11469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026445" y="1422591"/>
            <a:ext cx="16230600" cy="2800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030"/>
              </a:lnSpc>
            </a:pPr>
            <a:r>
              <a:rPr lang="en-US" sz="91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Hạn</a:t>
            </a:r>
            <a:r>
              <a:rPr 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91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Chế</a:t>
            </a:r>
            <a:r>
              <a:rPr 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&amp; </a:t>
            </a:r>
            <a:r>
              <a:rPr lang="en-US" sz="91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Hướng</a:t>
            </a:r>
            <a:r>
              <a:rPr 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91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Phát</a:t>
            </a:r>
            <a:r>
              <a:rPr 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91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Triển</a:t>
            </a:r>
            <a:endParaRPr lang="en-US" sz="919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627987" y="6304222"/>
            <a:ext cx="6695925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5"/>
              </a:lnSpc>
            </a:pPr>
            <a:r>
              <a:rPr lang="en-US" sz="35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Hạn</a:t>
            </a:r>
            <a:r>
              <a:rPr lang="en-US" sz="35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35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Chế</a:t>
            </a:r>
            <a:r>
              <a:rPr lang="en-US" sz="35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35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Hiện</a:t>
            </a:r>
            <a:r>
              <a:rPr lang="en-US" sz="35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35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Tại</a:t>
            </a:r>
            <a:endParaRPr lang="en-US" sz="359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961834" y="6304222"/>
            <a:ext cx="6695925" cy="6229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35"/>
              </a:lnSpc>
            </a:pPr>
            <a:r>
              <a:rPr lang="en-US" sz="35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Hướng</a:t>
            </a:r>
            <a:r>
              <a:rPr lang="en-US" sz="35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35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Phát</a:t>
            </a:r>
            <a:r>
              <a:rPr lang="en-US" sz="35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35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Triển</a:t>
            </a:r>
            <a:endParaRPr lang="en-US" sz="359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627987" y="7125613"/>
            <a:ext cx="6695925" cy="2261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a tích hợp chức n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ng chat trong phòng chơi.</a:t>
            </a:r>
            <a:endParaRPr lang="en-US" altLang="en-US" sz="20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Giao diện WinForms còn 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ơn giản, ch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a tối 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u trải nghiệm ng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ời dùng.</a:t>
            </a:r>
            <a:endParaRPr lang="en-US" altLang="en-US" sz="20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Ch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a t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ng c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ờng bảo mật (xác thực và kiểm tra dữ liệu từ Client).</a:t>
            </a:r>
            <a:endParaRPr lang="en-US" altLang="en-US" sz="20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Server mới ở mức triển khai cơ bản, ch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a tối 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u hiệu n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ng và khả n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ng mở rộng.</a:t>
            </a:r>
            <a:endParaRPr lang="en-US" altLang="en-US" sz="2000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961834" y="7201813"/>
            <a:ext cx="6695925" cy="1615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Bổ sung tính n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ng chat và lịch sử trận 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ấu.</a:t>
            </a:r>
            <a:endParaRPr lang="en-US" altLang="en-US" sz="20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Nâng cấp giao diện hiện 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ại, thân thiện hơn.</a:t>
            </a:r>
            <a:endParaRPr lang="en-US" altLang="en-US" sz="20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ng c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ờng bảo mật và tối 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u hiệu n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ă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ng Server.</a:t>
            </a:r>
            <a:endParaRPr lang="en-US" altLang="en-US" sz="2000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2520"/>
              </a:lnSpc>
            </a:pP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Hoàn thiện triển khai trên Oracle Cloud VPS, hỗ trợ nhiều ng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ư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ời chơi </a:t>
            </a:r>
            <a:r>
              <a:rPr lang="" altLang="en-US" sz="2000" dirty="0">
                <a:latin typeface="DM Sans"/>
                <a:ea typeface="DM Sans"/>
                <a:cs typeface="DM Sans"/>
                <a:sym typeface="DM Sans"/>
              </a:rPr>
              <a:t>đ</a:t>
            </a:r>
            <a:r>
              <a:rPr lang="en-US" altLang="en-US" sz="2000" dirty="0">
                <a:latin typeface="DM Sans"/>
                <a:ea typeface="DM Sans"/>
                <a:cs typeface="DM Sans"/>
                <a:sym typeface="DM Sans"/>
              </a:rPr>
              <a:t>ồng thời.</a:t>
            </a:r>
            <a:r>
              <a:rPr lang="en-US" sz="2000" dirty="0">
                <a:latin typeface="DM Sans"/>
                <a:ea typeface="DM Sans"/>
                <a:cs typeface="DM Sans"/>
                <a:sym typeface="DM Sans"/>
              </a:rPr>
              <a:t>.</a:t>
            </a:r>
            <a:endParaRPr lang="en-US" sz="2000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84;p1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374" y="0"/>
            <a:ext cx="18280626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6"/>
          <p:cNvSpPr txBox="1"/>
          <p:nvPr/>
        </p:nvSpPr>
        <p:spPr>
          <a:xfrm>
            <a:off x="1028700" y="1983508"/>
            <a:ext cx="16230600" cy="1585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70"/>
              </a:lnSpc>
            </a:pPr>
            <a:r>
              <a:rPr lang="en-US" sz="91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Cảm</a:t>
            </a:r>
            <a:r>
              <a:rPr 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</a:t>
            </a:r>
            <a:r>
              <a:rPr lang="en-US" sz="9195" b="1" dirty="0" err="1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Ơn</a:t>
            </a:r>
            <a:r>
              <a:rPr lang="en-US" sz="9195" b="1" dirty="0">
                <a:latin typeface="Space Mono Bold" panose="02000809030000020004"/>
                <a:ea typeface="Space Mono Bold" panose="02000809030000020004"/>
                <a:cs typeface="Space Mono Bold" panose="02000809030000020004"/>
                <a:sym typeface="Space Mono Bold" panose="02000809030000020004"/>
              </a:rPr>
              <a:t> &amp; Thảo Luận</a:t>
            </a:r>
            <a:endParaRPr lang="en-US" sz="9195" b="1" dirty="0">
              <a:latin typeface="Space Mono Bold" panose="02000809030000020004"/>
              <a:ea typeface="Space Mono Bold" panose="02000809030000020004"/>
              <a:cs typeface="Space Mono Bold" panose="02000809030000020004"/>
              <a:sym typeface="Space Mono Bold" panose="0200080903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6890791"/>
            <a:ext cx="16230600" cy="14591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5"/>
              </a:lnSpc>
            </a:pPr>
            <a:r>
              <a:rPr lang="en-US" sz="2400" spc="1018" dirty="0">
                <a:latin typeface="DM Sans"/>
                <a:ea typeface="DM Sans"/>
                <a:cs typeface="DM Sans"/>
                <a:sym typeface="DM Sans"/>
              </a:rPr>
              <a:t>MÔN HỌC: LẬP TRÌNH MẠNG  |  MÃ DỰ ÁN: UDM_08</a:t>
            </a:r>
            <a:endParaRPr lang="en-US" sz="2400" spc="1018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915"/>
              </a:lnSpc>
            </a:pPr>
            <a:r>
              <a:rPr lang="en-US" sz="2400" spc="1018" dirty="0">
                <a:latin typeface="DM Sans"/>
                <a:ea typeface="DM Sans"/>
                <a:cs typeface="DM Sans"/>
                <a:sym typeface="DM Sans"/>
              </a:rPr>
              <a:t>CÔNG NGHỆ: C# / .NET FRAMEWORK</a:t>
            </a:r>
            <a:endParaRPr lang="en-US" sz="2400" spc="1018" dirty="0"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ctr">
              <a:lnSpc>
                <a:spcPts val="3915"/>
              </a:lnSpc>
            </a:pPr>
            <a:r>
              <a:rPr lang="en-US" sz="2400" spc="1018" dirty="0">
                <a:latin typeface="DM Sans"/>
                <a:ea typeface="DM Sans"/>
                <a:cs typeface="DM Sans"/>
                <a:sym typeface="DM Sans"/>
              </a:rPr>
              <a:t>CHÚNG TÔI SẴN SÀNG LẮNG NGHE CÂU HỎI VÀ THẢO LUẬN!</a:t>
            </a:r>
            <a:endParaRPr lang="en-US" sz="2400" spc="1018" dirty="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4333550"/>
            <a:ext cx="16230600" cy="69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740"/>
              </a:lnSpc>
            </a:pPr>
            <a:r>
              <a:rPr lang="en-US" sz="2400" spc="430" dirty="0">
                <a:latin typeface="DM Sans"/>
                <a:ea typeface="DM Sans"/>
                <a:cs typeface="DM Sans"/>
                <a:sym typeface="DM Sans"/>
              </a:rPr>
              <a:t>XIN CHÂN THÀNH CẢM ƠN GIẢNG VIÊN MAI NGỌC CHÂU VÀ QUÝ THẦY CÔ ĐÃ LẮNG NGHE BÁO CÁO.</a:t>
            </a:r>
            <a:endParaRPr lang="en-US" sz="2400" spc="430" dirty="0"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3461</Words>
  <Application>WPS Presentation</Application>
  <PresentationFormat>Custom</PresentationFormat>
  <Paragraphs>126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Space Mono Bold</vt:lpstr>
      <vt:lpstr>DM Sans</vt:lpstr>
      <vt:lpstr>Microsoft YaHei</vt:lpstr>
      <vt:lpstr>Arial Unicode MS</vt:lpstr>
      <vt:lpstr>Calibri</vt:lpstr>
      <vt:lpstr>Montserrat Bold</vt:lpstr>
      <vt:lpstr>Segoe Print</vt:lpstr>
      <vt:lpstr>Garet Bold</vt:lpstr>
      <vt:lpstr>Garet</vt:lpstr>
      <vt:lpstr>Open Sans</vt:lpstr>
      <vt:lpstr>Space Mono 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Dự án chat TCP Socket: Lập Trình Mạng</dc:title>
  <dc:creator>Ngo Thinh</dc:creator>
  <cp:lastModifiedBy>Nguyễn Phúc Hưng</cp:lastModifiedBy>
  <cp:revision>4</cp:revision>
  <dcterms:created xsi:type="dcterms:W3CDTF">2006-08-16T00:00:00Z</dcterms:created>
  <dcterms:modified xsi:type="dcterms:W3CDTF">2026-07-07T14:59:35Z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58F9AF3341C04C7A89147DADD6A1C567_13</vt:lpwstr>
  </property>
  <property fmtid="{D5CDD505-2E9C-101B-9397-08002B2CF9AE}" pid="3" name="KSOProductBuildVer">
    <vt:lpwstr>1033-12.1.0.26880</vt:lpwstr>
  </property>
</Properties>
</file>